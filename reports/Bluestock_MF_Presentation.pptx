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Mutual Fund Analytics Platform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Engineering, ETL Pipeline &amp; Interactive Dashboard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611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Source: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AMFI India · mfapi.in · NSE/BSE  </a:t>
            </a:r>
            <a:pPr indent="0" marL="0">
              <a:buNone/>
            </a:pPr>
            <a:r>
              <a:rPr lang="en-US" sz="1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Schemes · 64,320 NAV Records · 32,778 Transactions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  |  Capstone Project  |  Bluestock Fintech Pvt. Ltd.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3931920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972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fragmentation — NAV, AUM, SIP flow across different formats with no unified database
</a:t>
            </a:r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easy benchmark comparison for risk-adjusted returns (Sharpe, Alpha, Beta)
</a:t>
            </a:r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visibility into investor behaviour by demographics and geography
</a:t>
            </a:r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monthly PDF reports with no drill-down or self-service capability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480560" y="960120"/>
            <a:ext cx="4389120" cy="3749040"/>
          </a:xfrm>
          <a:prstGeom prst="roundRect">
            <a:avLst>
              <a:gd name="adj" fmla="val 2927"/>
            </a:avLst>
          </a:prstGeom>
          <a:solidFill>
            <a:srgbClr val="21295C"/>
          </a:solidFill>
          <a:ln/>
        </p:spPr>
      </p:sp>
      <p:sp>
        <p:nvSpPr>
          <p:cNvPr id="8" name="Text 6"/>
          <p:cNvSpPr/>
          <p:nvPr/>
        </p:nvSpPr>
        <p:spPr>
          <a:xfrm>
            <a:off x="4663440" y="10972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617720" y="1572768"/>
            <a:ext cx="457200" cy="320040"/>
          </a:xfrm>
          <a:prstGeom prst="rect">
            <a:avLst/>
          </a:prstGeom>
          <a:solidFill>
            <a:srgbClr val="F5A623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166360" y="1572768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pipeline from AMFI raw data to SQLite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617720" y="2002536"/>
            <a:ext cx="457200" cy="320040"/>
          </a:xfrm>
          <a:prstGeom prst="rect">
            <a:avLst/>
          </a:prstGeom>
          <a:solidFill>
            <a:srgbClr val="F5A623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166360" y="2002536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Normalised 8-table star schema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17720" y="2432304"/>
            <a:ext cx="457200" cy="320040"/>
          </a:xfrm>
          <a:prstGeom prst="rect">
            <a:avLst/>
          </a:prstGeom>
          <a:solidFill>
            <a:srgbClr val="F5A623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166360" y="2432304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EDA — 15+ charts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17720" y="2862072"/>
            <a:ext cx="457200" cy="320040"/>
          </a:xfrm>
          <a:prstGeom prst="rect">
            <a:avLst/>
          </a:prstGeom>
          <a:solidFill>
            <a:srgbClr val="F5A623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O4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166360" y="2862072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metrics: Sharpe, Sortino, VaR, Max Drawdown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17720" y="3291840"/>
            <a:ext cx="457200" cy="320040"/>
          </a:xfrm>
          <a:prstGeom prst="rect">
            <a:avLst/>
          </a:prstGeom>
          <a:solidFill>
            <a:srgbClr val="F5A623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O5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166360" y="329184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4-page Power BI dashboard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17720" y="3721608"/>
            <a:ext cx="457200" cy="320040"/>
          </a:xfrm>
          <a:prstGeom prst="rect">
            <a:avLst/>
          </a:prstGeom>
          <a:solidFill>
            <a:srgbClr val="F5A623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O6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166360" y="3721608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behaviour &amp; cohort analytics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17720" y="4151376"/>
            <a:ext cx="457200" cy="320040"/>
          </a:xfrm>
          <a:prstGeom prst="rect">
            <a:avLst/>
          </a:prstGeom>
          <a:solidFill>
            <a:srgbClr val="F5A623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O7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166360" y="4151376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scorecard &amp; recommender system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 &amp; DATASETS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601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74320" y="14630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Fund Schemes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50592" y="914400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2450592" y="9601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450592" y="14630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Provided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26864" y="914400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21295C"/>
          </a:solidFill>
          <a:ln/>
        </p:spPr>
      </p:sp>
      <p:sp>
        <p:nvSpPr>
          <p:cNvPr id="11" name="Text 9"/>
          <p:cNvSpPr/>
          <p:nvPr/>
        </p:nvSpPr>
        <p:spPr>
          <a:xfrm>
            <a:off x="4626864" y="9601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64,320+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626864" y="14630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 Records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803136" y="914400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1A6B3C"/>
          </a:solidFill>
          <a:ln/>
        </p:spPr>
      </p:sp>
      <p:sp>
        <p:nvSpPr>
          <p:cNvPr id="14" name="Text 12"/>
          <p:cNvSpPr/>
          <p:nvPr/>
        </p:nvSpPr>
        <p:spPr>
          <a:xfrm>
            <a:off x="6803136" y="9601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32,778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803136" y="14630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057400"/>
          <a:ext cx="8595360" cy="2834640"/>
        </p:xfrm>
        <a:graphic>
          <a:graphicData uri="http://schemas.openxmlformats.org/drawingml/2006/table">
            <a:tbl>
              <a:tblPr/>
              <a:tblGrid>
                <a:gridCol w="2560320"/>
                <a:gridCol w="731520"/>
                <a:gridCol w="5303520"/>
              </a:tblGrid>
              <a:tr h="4049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Dataset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Rows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4049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01_fund_master.csv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 real AMFI schemes with fund house, category, expense ratio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49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02_nav_history.csv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64,320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NAV Jan 2022–May 2026, anchored to real mfapi.in values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</a:tr>
              <a:tr h="4049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03_aum_by_fund_house.csv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Quarterly AUM (₹ Crore) for 10 fund houses, 2022–2025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49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04_monthly_sip_inflows.csv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Month-wise SIP inflow, accounts, and SIP AUM from AMFI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</a:tr>
              <a:tr h="4049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08_investor_transactions.csv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32,778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Simulated SIP/Lumpsum/Redemption for 5,000 investors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49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10_benchmark_indices.csv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8,000+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Nifty 50, Nifty 100, BSE SmallCap, CRISIL indices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ETL PIPELINE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1371600" cy="594360"/>
          </a:xfrm>
          <a:prstGeom prst="roundRect">
            <a:avLst>
              <a:gd name="adj" fmla="val 10769"/>
            </a:avLst>
          </a:prstGeom>
          <a:solidFill>
            <a:srgbClr val="1565C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6012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691640" y="1216152"/>
            <a:ext cx="320040" cy="45720"/>
          </a:xfrm>
          <a:prstGeom prst="rect">
            <a:avLst/>
          </a:prstGeom>
          <a:solidFill>
            <a:srgbClr val="607D8B"/>
          </a:solidFill>
          <a:ln/>
        </p:spPr>
      </p:sp>
      <p:sp>
        <p:nvSpPr>
          <p:cNvPr id="7" name="Shape 5"/>
          <p:cNvSpPr/>
          <p:nvPr/>
        </p:nvSpPr>
        <p:spPr>
          <a:xfrm>
            <a:off x="2057400" y="960120"/>
            <a:ext cx="6766560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240280" y="960120"/>
            <a:ext cx="6492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AMFI CSVs · mfapi.in REST API · NSE/BSE Bhavcopy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764792"/>
            <a:ext cx="1371600" cy="594360"/>
          </a:xfrm>
          <a:prstGeom prst="roundRect">
            <a:avLst>
              <a:gd name="adj" fmla="val 10769"/>
            </a:avLst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764792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691640" y="2020824"/>
            <a:ext cx="320040" cy="45720"/>
          </a:xfrm>
          <a:prstGeom prst="rect">
            <a:avLst/>
          </a:prstGeom>
          <a:solidFill>
            <a:srgbClr val="607D8B"/>
          </a:solidFill>
          <a:ln/>
        </p:spPr>
      </p:sp>
      <p:sp>
        <p:nvSpPr>
          <p:cNvPr id="12" name="Shape 10"/>
          <p:cNvSpPr/>
          <p:nvPr/>
        </p:nvSpPr>
        <p:spPr>
          <a:xfrm>
            <a:off x="2057400" y="1764792"/>
            <a:ext cx="6766560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240280" y="1764792"/>
            <a:ext cx="6492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cleaning · forward-fill weekends · date normalisation · schema mapping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2569464"/>
            <a:ext cx="1371600" cy="594360"/>
          </a:xfrm>
          <a:prstGeom prst="roundRect">
            <a:avLst>
              <a:gd name="adj" fmla="val 10769"/>
            </a:avLst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2569464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691640" y="2825496"/>
            <a:ext cx="320040" cy="45720"/>
          </a:xfrm>
          <a:prstGeom prst="rect">
            <a:avLst/>
          </a:prstGeom>
          <a:solidFill>
            <a:srgbClr val="607D8B"/>
          </a:solidFill>
          <a:ln/>
        </p:spPr>
      </p:sp>
      <p:sp>
        <p:nvSpPr>
          <p:cNvPr id="17" name="Shape 15"/>
          <p:cNvSpPr/>
          <p:nvPr/>
        </p:nvSpPr>
        <p:spPr>
          <a:xfrm>
            <a:off x="2057400" y="2569464"/>
            <a:ext cx="6766560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240280" y="2569464"/>
            <a:ext cx="6492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star schema · 8 tables · 64K+ rows · indexed on amfi_code &amp; date_id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3374136"/>
            <a:ext cx="1371600" cy="594360"/>
          </a:xfrm>
          <a:prstGeom prst="roundRect">
            <a:avLst>
              <a:gd name="adj" fmla="val 10769"/>
            </a:avLst>
          </a:prstGeom>
          <a:solidFill>
            <a:srgbClr val="21295C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3374136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691640" y="3630168"/>
            <a:ext cx="320040" cy="45720"/>
          </a:xfrm>
          <a:prstGeom prst="rect">
            <a:avLst/>
          </a:prstGeom>
          <a:solidFill>
            <a:srgbClr val="607D8B"/>
          </a:solidFill>
          <a:ln/>
        </p:spPr>
      </p:sp>
      <p:sp>
        <p:nvSpPr>
          <p:cNvPr id="22" name="Shape 20"/>
          <p:cNvSpPr/>
          <p:nvPr/>
        </p:nvSpPr>
        <p:spPr>
          <a:xfrm>
            <a:off x="2057400" y="3374136"/>
            <a:ext cx="6766560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240280" y="3374136"/>
            <a:ext cx="6492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· Sortino · VaR/CVaR · CAGR · Max Drawdown · Cohort · HHI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4320" y="4178808"/>
            <a:ext cx="1371600" cy="594360"/>
          </a:xfrm>
          <a:prstGeom prst="roundRect">
            <a:avLst>
              <a:gd name="adj" fmla="val 10769"/>
            </a:avLst>
          </a:prstGeom>
          <a:solidFill>
            <a:srgbClr val="2E7D32"/>
          </a:solidFill>
          <a:ln/>
        </p:spPr>
      </p:sp>
      <p:sp>
        <p:nvSpPr>
          <p:cNvPr id="25" name="Text 23"/>
          <p:cNvSpPr/>
          <p:nvPr/>
        </p:nvSpPr>
        <p:spPr>
          <a:xfrm>
            <a:off x="274320" y="4178808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691640" y="4434840"/>
            <a:ext cx="320040" cy="45720"/>
          </a:xfrm>
          <a:prstGeom prst="rect">
            <a:avLst/>
          </a:prstGeom>
          <a:solidFill>
            <a:srgbClr val="607D8B"/>
          </a:solidFill>
          <a:ln/>
        </p:spPr>
      </p:sp>
      <p:sp>
        <p:nvSpPr>
          <p:cNvPr id="27" name="Shape 25"/>
          <p:cNvSpPr/>
          <p:nvPr/>
        </p:nvSpPr>
        <p:spPr>
          <a:xfrm>
            <a:off x="2057400" y="4178808"/>
            <a:ext cx="6766560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2240280" y="4178808"/>
            <a:ext cx="6492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4-page dashboard · slicers · drill-through · KPI cards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74320" y="4709160"/>
            <a:ext cx="8595360" cy="320040"/>
          </a:xfrm>
          <a:prstGeom prst="roundRect">
            <a:avLst>
              <a:gd name="adj" fmla="val 14286"/>
            </a:avLst>
          </a:prstGeom>
          <a:solidFill>
            <a:srgbClr val="E3F2FD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4736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Schema: dim_fund · dim_date · fact_nav · fact_aum · fact_transactions · fact_performance · fact_portfolio · fact_sip_industry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HIGHLIGHTS — MARKET &amp; INDUSTRY TRENDS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425196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pic>
        <p:nvPicPr>
          <p:cNvPr id="5" name="Image 0" descr="/home/claude/bluestock_report/images/02_aum_growth_by_am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005840"/>
            <a:ext cx="4069080" cy="2651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370332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 Growth by Fund House (2022–2025)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663440" y="914400"/>
            <a:ext cx="425196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pic>
        <p:nvPicPr>
          <p:cNvPr id="8" name="Image 1" descr="/home/claude/bluestock_report/images/04_category_heatm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05840"/>
            <a:ext cx="4069080" cy="2651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754880" y="370332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Inflows by Category — FY 2024–25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228600" y="416052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SBI MF leads AUM at ₹12.5L Cr 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Liquid category dominates inflows by a wide margin 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All fund houses show consistent YoY AUM growth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HIGHLIGHTS — INVESTORS &amp; SIP BEHAVIOUR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539496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pic>
        <p:nvPicPr>
          <p:cNvPr id="5" name="Image 0" descr="/home/claude/bluestock_report/images/05_demograph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960120"/>
            <a:ext cx="5212080" cy="2606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3749040"/>
            <a:ext cx="5212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Demographics: Age · SIP Amount · Gender Split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806440" y="914400"/>
            <a:ext cx="310896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pic>
        <p:nvPicPr>
          <p:cNvPr id="8" name="Image 1" descr="/home/claude/bluestock_report/images/03_sip_inf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960120"/>
            <a:ext cx="2926080" cy="2606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897880" y="374904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Inflow Trend (₹ Crore)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228600" y="4114800"/>
            <a:ext cx="2011680" cy="822960"/>
          </a:xfrm>
          <a:prstGeom prst="roundRect">
            <a:avLst>
              <a:gd name="adj" fmla="val 8889"/>
            </a:avLst>
          </a:prstGeom>
          <a:solidFill>
            <a:srgbClr val="21295C"/>
          </a:solidFill>
          <a:ln/>
        </p:spPr>
      </p:sp>
      <p:sp>
        <p:nvSpPr>
          <p:cNvPr id="11" name="Text 7"/>
          <p:cNvSpPr/>
          <p:nvPr/>
        </p:nvSpPr>
        <p:spPr>
          <a:xfrm>
            <a:off x="228600" y="41605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41.1%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228600" y="45262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Investors aged 26–35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2441448" y="4114800"/>
            <a:ext cx="2011680" cy="822960"/>
          </a:xfrm>
          <a:prstGeom prst="roundRect">
            <a:avLst>
              <a:gd name="adj" fmla="val 8889"/>
            </a:avLst>
          </a:prstGeom>
          <a:solidFill>
            <a:srgbClr val="21295C"/>
          </a:solidFill>
          <a:ln/>
        </p:spPr>
      </p:sp>
      <p:sp>
        <p:nvSpPr>
          <p:cNvPr id="14" name="Text 10"/>
          <p:cNvSpPr/>
          <p:nvPr/>
        </p:nvSpPr>
        <p:spPr>
          <a:xfrm>
            <a:off x="2441448" y="41605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66.5%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2441448" y="45262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investors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4654296" y="4114800"/>
            <a:ext cx="2011680" cy="822960"/>
          </a:xfrm>
          <a:prstGeom prst="roundRect">
            <a:avLst>
              <a:gd name="adj" fmla="val 8889"/>
            </a:avLst>
          </a:prstGeom>
          <a:solidFill>
            <a:srgbClr val="21295C"/>
          </a:solidFill>
          <a:ln/>
        </p:spPr>
      </p:sp>
      <p:sp>
        <p:nvSpPr>
          <p:cNvPr id="17" name="Text 13"/>
          <p:cNvSpPr/>
          <p:nvPr/>
        </p:nvSpPr>
        <p:spPr>
          <a:xfrm>
            <a:off x="4654296" y="41605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₹31,002 Cr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4654296" y="45262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ATH Dec 2025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6867144" y="4114800"/>
            <a:ext cx="2011680" cy="822960"/>
          </a:xfrm>
          <a:prstGeom prst="roundRect">
            <a:avLst>
              <a:gd name="adj" fmla="val 8889"/>
            </a:avLst>
          </a:prstGeom>
          <a:solidFill>
            <a:srgbClr val="21295C"/>
          </a:solidFill>
          <a:ln/>
        </p:spPr>
      </p:sp>
      <p:sp>
        <p:nvSpPr>
          <p:cNvPr id="20" name="Text 16"/>
          <p:cNvSpPr/>
          <p:nvPr/>
        </p:nvSpPr>
        <p:spPr>
          <a:xfrm>
            <a:off x="6867144" y="41605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~Even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6867144" y="45262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T30 vs B30 split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METRICS — RISK-ADJUSTED RETURNS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420624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058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FUNDS — SHARPE RATIO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3931920" cy="4114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4173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429000" y="141732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1892808"/>
            <a:ext cx="3931920" cy="41148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1892808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Mirae Asset Large Cap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29000" y="1892808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1.07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2368296"/>
            <a:ext cx="393192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2368296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Kotak Flexicap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29000" y="2368296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" y="2843784"/>
            <a:ext cx="3931920" cy="41148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" y="2843784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Mirae Asset Tax Saver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29000" y="2843784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3319272"/>
            <a:ext cx="393192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411480" y="3319272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ICICI Pru Midcap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429000" y="3319272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" y="3794760"/>
            <a:ext cx="3931920" cy="41148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22" name="Text 20"/>
          <p:cNvSpPr/>
          <p:nvPr/>
        </p:nvSpPr>
        <p:spPr>
          <a:xfrm>
            <a:off x="411480" y="379476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SBI Bluechip Regular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429000" y="379476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0.86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11480" y="416052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= 6.5% (RBI repo rate) · Annualised with √252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663440" y="914400"/>
            <a:ext cx="425196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46320" y="100584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DRAWDOWN — WORST FALLS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54880" y="1417320"/>
            <a:ext cx="3931920" cy="502920"/>
          </a:xfrm>
          <a:prstGeom prst="roundRect">
            <a:avLst>
              <a:gd name="adj" fmla="val 10909"/>
            </a:avLst>
          </a:prstGeom>
          <a:solidFill>
            <a:srgbClr val="F0F4F8"/>
          </a:solidFill>
          <a:ln/>
        </p:spPr>
      </p:sp>
      <p:sp>
        <p:nvSpPr>
          <p:cNvPr id="28" name="Text 26"/>
          <p:cNvSpPr/>
          <p:nvPr/>
        </p:nvSpPr>
        <p:spPr>
          <a:xfrm>
            <a:off x="4892040" y="14538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SBI Small Cap Direct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92040" y="169164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2023 → Oct 2025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132320" y="141732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002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-52.6%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754880" y="2011680"/>
            <a:ext cx="3931920" cy="502920"/>
          </a:xfrm>
          <a:prstGeom prst="roundRect">
            <a:avLst>
              <a:gd name="adj" fmla="val 10909"/>
            </a:avLst>
          </a:prstGeom>
          <a:solidFill>
            <a:srgbClr val="F0F4F8"/>
          </a:solidFill>
          <a:ln/>
        </p:spPr>
      </p:sp>
      <p:sp>
        <p:nvSpPr>
          <p:cNvPr id="32" name="Text 30"/>
          <p:cNvSpPr/>
          <p:nvPr/>
        </p:nvSpPr>
        <p:spPr>
          <a:xfrm>
            <a:off x="4892040" y="204825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Small Cap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92040" y="228600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2025 → May 2026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132320" y="201168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002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-51.7%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754880" y="2606040"/>
            <a:ext cx="3931920" cy="502920"/>
          </a:xfrm>
          <a:prstGeom prst="roundRect">
            <a:avLst>
              <a:gd name="adj" fmla="val 10909"/>
            </a:avLst>
          </a:prstGeom>
          <a:solidFill>
            <a:srgbClr val="F0F4F8"/>
          </a:solidFill>
          <a:ln/>
        </p:spPr>
      </p:sp>
      <p:sp>
        <p:nvSpPr>
          <p:cNvPr id="36" name="Text 34"/>
          <p:cNvSpPr/>
          <p:nvPr/>
        </p:nvSpPr>
        <p:spPr>
          <a:xfrm>
            <a:off x="4892040" y="264261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ABSL Small Cap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892040" y="288036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2024 → May 2026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132320" y="260604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002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-35.4%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754880" y="3200400"/>
            <a:ext cx="3931920" cy="502920"/>
          </a:xfrm>
          <a:prstGeom prst="roundRect">
            <a:avLst>
              <a:gd name="adj" fmla="val 10909"/>
            </a:avLst>
          </a:prstGeom>
          <a:solidFill>
            <a:srgbClr val="F0F4F8"/>
          </a:solidFill>
          <a:ln/>
        </p:spPr>
      </p:sp>
      <p:sp>
        <p:nvSpPr>
          <p:cNvPr id="40" name="Text 38"/>
          <p:cNvSpPr/>
          <p:nvPr/>
        </p:nvSpPr>
        <p:spPr>
          <a:xfrm>
            <a:off x="4892040" y="323697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DSP Small Cap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892040" y="347472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2024 → Jan 2025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132320" y="320040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002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-31.2%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4754880" y="3794760"/>
            <a:ext cx="3931920" cy="502920"/>
          </a:xfrm>
          <a:prstGeom prst="roundRect">
            <a:avLst>
              <a:gd name="adj" fmla="val 10909"/>
            </a:avLst>
          </a:prstGeom>
          <a:solidFill>
            <a:srgbClr val="F0F4F8"/>
          </a:solidFill>
          <a:ln/>
        </p:spPr>
      </p:sp>
      <p:sp>
        <p:nvSpPr>
          <p:cNvPr id="44" name="Text 42"/>
          <p:cNvSpPr/>
          <p:nvPr/>
        </p:nvSpPr>
        <p:spPr>
          <a:xfrm>
            <a:off x="4892040" y="383133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SBI Small Cap Reg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892040" y="406908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2024 → May 2025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132320" y="37947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002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-28.7%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4754880" y="44348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Small-cap funds show deepest drawdowns — consistent with higher volatility profile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METRICS — VaR, FUND SCORECARD &amp; RECOMMENDER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2926080" cy="347472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058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VaR &amp; CVaR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129844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(Riskiest Funds)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1572768"/>
            <a:ext cx="822960" cy="320040"/>
          </a:xfrm>
          <a:prstGeom prst="rect">
            <a:avLst/>
          </a:prstGeom>
          <a:solidFill>
            <a:srgbClr val="1C729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88720" y="1572768"/>
            <a:ext cx="822960" cy="320040"/>
          </a:xfrm>
          <a:prstGeom prst="rect">
            <a:avLst/>
          </a:prstGeom>
          <a:solidFill>
            <a:srgbClr val="1C729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057400" y="1572768"/>
            <a:ext cx="822960" cy="320040"/>
          </a:xfrm>
          <a:prstGeom prst="rect">
            <a:avLst/>
          </a:prstGeom>
          <a:solidFill>
            <a:srgbClr val="1C729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CVaR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0040" y="1938528"/>
            <a:ext cx="822960" cy="4114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SBI SC Direct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88720" y="1938528"/>
            <a:ext cx="822960" cy="4114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00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-2.69%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057400" y="1938528"/>
            <a:ext cx="822960" cy="4114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00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-3.24%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0040" y="2414016"/>
            <a:ext cx="822960" cy="411480"/>
          </a:xfrm>
          <a:prstGeom prst="rect">
            <a:avLst/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SC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88720" y="2414016"/>
            <a:ext cx="822960" cy="411480"/>
          </a:xfrm>
          <a:prstGeom prst="rect">
            <a:avLst/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00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-2.62%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057400" y="2414016"/>
            <a:ext cx="822960" cy="411480"/>
          </a:xfrm>
          <a:prstGeom prst="rect">
            <a:avLst/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00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-3.17%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0040" y="2889504"/>
            <a:ext cx="822960" cy="4114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ABSL SC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88720" y="2889504"/>
            <a:ext cx="822960" cy="4114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00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-2.60%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057400" y="2889504"/>
            <a:ext cx="822960" cy="4114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00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-3.25%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0040" y="3364992"/>
            <a:ext cx="822960" cy="411480"/>
          </a:xfrm>
          <a:prstGeom prst="rect">
            <a:avLst/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Nippon SC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88720" y="3364992"/>
            <a:ext cx="822960" cy="411480"/>
          </a:xfrm>
          <a:prstGeom prst="rect">
            <a:avLst/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00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-2.54%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057400" y="3364992"/>
            <a:ext cx="822960" cy="411480"/>
          </a:xfrm>
          <a:prstGeom prst="rect">
            <a:avLst/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00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-3.23%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383280" y="914400"/>
            <a:ext cx="539496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566160" y="10058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RECOMMENDER — BY RISK APPETITE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520440" y="1463040"/>
            <a:ext cx="1097280" cy="822960"/>
          </a:xfrm>
          <a:prstGeom prst="roundRect">
            <a:avLst>
              <a:gd name="adj" fmla="val 6667"/>
            </a:avLst>
          </a:prstGeom>
          <a:solidFill>
            <a:srgbClr val="2E7D32"/>
          </a:solidFill>
          <a:ln/>
        </p:spPr>
      </p:sp>
      <p:sp>
        <p:nvSpPr>
          <p:cNvPr id="25" name="Text 23"/>
          <p:cNvSpPr/>
          <p:nvPr/>
        </p:nvSpPr>
        <p:spPr>
          <a:xfrm>
            <a:off x="3520440" y="146304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RISK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663440" y="146304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ICICI Pru Liquid (Sharpe 7.68)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Kotak Liquid (6.18)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ABSL Liquid (5.14)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520440" y="2468880"/>
            <a:ext cx="1097280" cy="822960"/>
          </a:xfrm>
          <a:prstGeom prst="roundRect">
            <a:avLst>
              <a:gd name="adj" fmla="val 6667"/>
            </a:avLst>
          </a:prstGeom>
          <a:solidFill>
            <a:srgbClr val="1C7293"/>
          </a:solidFill>
          <a:ln/>
        </p:spPr>
      </p:sp>
      <p:sp>
        <p:nvSpPr>
          <p:cNvPr id="28" name="Text 26"/>
          <p:cNvSpPr/>
          <p:nvPr/>
        </p:nvSpPr>
        <p:spPr>
          <a:xfrm>
            <a:off x="3520440" y="246888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RISK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663440" y="246888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HDFC Top 100 (Sharpe 1.06)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Mirae Asset Large Cap (1.06)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ICICI Pru Bluechip Direct (1.03)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520440" y="3474720"/>
            <a:ext cx="1097280" cy="822960"/>
          </a:xfrm>
          <a:prstGeom prst="roundRect">
            <a:avLst>
              <a:gd name="adj" fmla="val 6667"/>
            </a:avLst>
          </a:prstGeom>
          <a:solidFill>
            <a:srgbClr val="D0021B"/>
          </a:solidFill>
          <a:ln/>
        </p:spPr>
      </p:sp>
      <p:sp>
        <p:nvSpPr>
          <p:cNvPr id="31" name="Text 29"/>
          <p:cNvSpPr/>
          <p:nvPr/>
        </p:nvSpPr>
        <p:spPr>
          <a:xfrm>
            <a:off x="3520440" y="347472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663440" y="347472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Kotak Emerging Equity (0.96)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ICICI Pru Midcap (0.95)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SBI Small Cap Regular (0.94)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566160" y="4251960"/>
            <a:ext cx="5029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by Sharpe ratio within SEBI risk_grade matching investor risk appetite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 — PAGES 1 &amp; 2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425196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pic>
        <p:nvPicPr>
          <p:cNvPr id="5" name="Image 0" descr="/home/claude/bluestock_report/images/Page_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987552"/>
            <a:ext cx="4069080" cy="3017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416052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 — Industry Overview: KPIs · AUM Trend · AUM by AMC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663440" y="914400"/>
            <a:ext cx="425196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pic>
        <p:nvPicPr>
          <p:cNvPr id="8" name="Image 1" descr="/home/claude/bluestock_report/images/Page_2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54880" y="987552"/>
            <a:ext cx="4069080" cy="30175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754880" y="416052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 — Fund Performance: Risk-Return Scatter · Scorecard · Benchmark NAV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 — PAGES 3 &amp;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425196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pic>
        <p:nvPicPr>
          <p:cNvPr id="5" name="Image 0" descr="/home/claude/bluestock_report/images/Page_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987552"/>
            <a:ext cx="4069080" cy="3017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416052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 — Investor Analytics: State · Age Group · Transaction Type · City Tier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663440" y="914400"/>
            <a:ext cx="425196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pic>
        <p:nvPicPr>
          <p:cNvPr id="8" name="Image 1" descr="/home/claude/bluestock_report/images/Page_4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54880" y="987552"/>
            <a:ext cx="4069080" cy="30175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754880" y="416052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 — SIP &amp; Market Trends: Dual-Axis · Category Matrix · Top 5 Inflow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&amp; RECOMMENDATIONS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27432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6984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SBI MF Industry Leader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463040"/>
            <a:ext cx="24688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Maintains highest AUM (₹12.5L Cr) across all years; ICICI Pru and HDFC follow. Gap widening YoY.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154680" y="960120"/>
            <a:ext cx="27432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91840" y="106984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SIP Culture Deepening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91840" y="1463040"/>
            <a:ext cx="24688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SIP inflows hit all-time high of ₹31,002 Cr in Dec 2025, growing exponentially post-Jul 2023.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080760" y="960120"/>
            <a:ext cx="27432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0" y="106984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Small-Cap Risk Premium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17920" y="1463040"/>
            <a:ext cx="24688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Small-cap funds deliver highest 1yr returns but worst drawdowns (-52.6%) and VaR (-2.69%/day).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" y="2880360"/>
            <a:ext cx="27432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5760" y="299008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Best Risk-Adjusted Fund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3383280"/>
            <a:ext cx="24688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Mirae Asset Large Cap tops Sharpe ranking at 1.07, delivering best return per unit of risk taken.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154680" y="2880360"/>
            <a:ext cx="27432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291840" y="299008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Concentration Risk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91840" y="3383280"/>
            <a:ext cx="24688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Bluechip (HHI 2065) is most sector-concentrated; SBI Small Cap Regular (1074) most diversified.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80760" y="2880360"/>
            <a:ext cx="27432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217920" y="299008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Data Limitation Noted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17920" y="3383280"/>
            <a:ext cx="24688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 history and pre-supplied performance metrics were independently generated — alpha/beta analysis documented accordingly.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011680"/>
            <a:ext cx="9144000" cy="10972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Pvt. Ltd. — Mutual Fund Analytics Capstone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3291840"/>
            <a:ext cx="1645920" cy="1188720"/>
          </a:xfrm>
          <a:prstGeom prst="roundRect">
            <a:avLst>
              <a:gd name="adj" fmla="val 7692"/>
            </a:avLst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364992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914400" y="39319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Schemes Tracked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834640" y="3291840"/>
            <a:ext cx="1645920" cy="1188720"/>
          </a:xfrm>
          <a:prstGeom prst="roundRect">
            <a:avLst>
              <a:gd name="adj" fmla="val 7692"/>
            </a:avLst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2834640" y="3364992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834640" y="39319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Tables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3291840"/>
            <a:ext cx="1645920" cy="1188720"/>
          </a:xfrm>
          <a:prstGeom prst="roundRect">
            <a:avLst>
              <a:gd name="adj" fmla="val 7692"/>
            </a:avLst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3364992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15+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754880" y="39319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Charts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675120" y="3291840"/>
            <a:ext cx="1645920" cy="1188720"/>
          </a:xfrm>
          <a:prstGeom prst="roundRect">
            <a:avLst>
              <a:gd name="adj" fmla="val 7692"/>
            </a:avLst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6675120" y="3364992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675120" y="39319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Pages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AMFI India · mfapi.in · NSE/BSE  |  Tools: Python · SQL · Power BI  |  June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Mutual Fund Analytics Platform — Capstone Project</dc:title>
  <dc:subject>PptxGenJS Presentation</dc:subject>
  <dc:creator>Bluestock Fintech Intern</dc:creator>
  <cp:lastModifiedBy>Bluestock Fintech Intern</cp:lastModifiedBy>
  <cp:revision>1</cp:revision>
  <dcterms:created xsi:type="dcterms:W3CDTF">2026-07-07T03:48:17Z</dcterms:created>
  <dcterms:modified xsi:type="dcterms:W3CDTF">2026-07-07T03:48:17Z</dcterms:modified>
</cp:coreProperties>
</file>